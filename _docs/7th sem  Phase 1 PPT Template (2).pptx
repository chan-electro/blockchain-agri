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4"/>
    <p:sldMasterId id="2147483953" r:id="rId5"/>
    <p:sldMasterId id="2147483954" r:id="rId6"/>
    <p:sldMasterId id="2147483961" r:id="rId7"/>
    <p:sldMasterId id="2147483963" r:id="rId8"/>
    <p:sldMasterId id="2147483956" r:id="rId9"/>
    <p:sldMasterId id="2147483958" r:id="rId10"/>
    <p:sldMasterId id="2147483955" r:id="rId11"/>
    <p:sldMasterId id="2147483973" r:id="rId12"/>
  </p:sldMasterIdLst>
  <p:notesMasterIdLst>
    <p:notesMasterId r:id="rId26"/>
  </p:notesMasterIdLst>
  <p:handoutMasterIdLst>
    <p:handoutMasterId r:id="rId27"/>
  </p:handoutMasterIdLst>
  <p:sldIdLst>
    <p:sldId id="571" r:id="rId13"/>
    <p:sldId id="577" r:id="rId14"/>
    <p:sldId id="685" r:id="rId15"/>
    <p:sldId id="686" r:id="rId16"/>
    <p:sldId id="687" r:id="rId17"/>
    <p:sldId id="688" r:id="rId18"/>
    <p:sldId id="689" r:id="rId19"/>
    <p:sldId id="694" r:id="rId20"/>
    <p:sldId id="690" r:id="rId21"/>
    <p:sldId id="693" r:id="rId22"/>
    <p:sldId id="691" r:id="rId23"/>
    <p:sldId id="695" r:id="rId24"/>
    <p:sldId id="602" r:id="rId25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iko Takemi" initials="A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A5A5A5"/>
    <a:srgbClr val="F9950F"/>
    <a:srgbClr val="E7E6E6"/>
    <a:srgbClr val="48367D"/>
    <a:srgbClr val="4C5252"/>
    <a:srgbClr val="EFCAAF"/>
    <a:srgbClr val="958FBC"/>
    <a:srgbClr val="EBE4A7"/>
    <a:srgbClr val="C9D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 autoAdjust="0"/>
    <p:restoredTop sz="86391"/>
  </p:normalViewPr>
  <p:slideViewPr>
    <p:cSldViewPr>
      <p:cViewPr varScale="1">
        <p:scale>
          <a:sx n="117" d="100"/>
          <a:sy n="117" d="100"/>
        </p:scale>
        <p:origin x="384" y="168"/>
      </p:cViewPr>
      <p:guideLst>
        <p:guide orient="horz" pos="2160"/>
        <p:guide pos="3840"/>
        <p:guide orient="horz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4068" y="-114"/>
      </p:cViewPr>
      <p:guideLst>
        <p:guide orient="horz" pos="3130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commentAuthors" Target="commentAuthor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/>
            </a:lvl1pPr>
          </a:lstStyle>
          <a:p>
            <a:fld id="{85D701EE-1FBA-4307-A5A0-FAD659DC6E39}" type="datetimeFigureOut">
              <a:rPr lang="en-NZ" smtClean="0"/>
              <a:pPr/>
              <a:t>25/10/2025</a:t>
            </a:fld>
            <a:endParaRPr lang="en-N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/>
            </a:lvl1pPr>
          </a:lstStyle>
          <a:p>
            <a:fld id="{97D3D0BD-DB2D-4CFB-B804-653564142846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0953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 b="0" i="0">
                <a:latin typeface="+mn-lt"/>
              </a:defRPr>
            </a:lvl1pPr>
          </a:lstStyle>
          <a:p>
            <a:fld id="{72A1673E-E3F0-41EB-8C5F-8EC9A5FDE63C}" type="datetimeFigureOut">
              <a:rPr lang="en-NZ" smtClean="0"/>
              <a:pPr/>
              <a:t>25/10/2025</a:t>
            </a:fld>
            <a:endParaRPr lang="en-N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42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74" tIns="45737" rIns="91474" bIns="45737" rtlCol="0" anchor="ctr"/>
          <a:lstStyle/>
          <a:p>
            <a:endParaRPr lang="en-N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1" y="4783309"/>
            <a:ext cx="5445760" cy="3913614"/>
          </a:xfrm>
          <a:prstGeom prst="rect">
            <a:avLst/>
          </a:prstGeom>
        </p:spPr>
        <p:txBody>
          <a:bodyPr vert="horz" lIns="91474" tIns="45737" rIns="91474" bIns="45737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F4089372-A661-494F-90C4-94E25994D307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386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4780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 userDrawn="1"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14" name="Picture 2" descr="NIRF — SAVEETHA SCHOOL OF MANAGEMENT">
              <a:extLst>
                <a:ext uri="{FF2B5EF4-FFF2-40B4-BE49-F238E27FC236}">
                  <a16:creationId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Bharath University - Top University In India">
              <a:extLst>
                <a:ext uri="{FF2B5EF4-FFF2-40B4-BE49-F238E27FC236}">
                  <a16:creationId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CREDISAPP for Ratings - Eloit">
              <a:extLst>
                <a:ext uri="{FF2B5EF4-FFF2-40B4-BE49-F238E27FC236}">
                  <a16:creationId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MHRD | Innovation Cell - Home">
              <a:extLst>
                <a:ext uri="{FF2B5EF4-FFF2-40B4-BE49-F238E27FC236}">
                  <a16:creationId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Institution's Innovation Council | MHRD">
              <a:extLst>
                <a:ext uri="{FF2B5EF4-FFF2-40B4-BE49-F238E27FC236}">
                  <a16:creationId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876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304800"/>
            <a:ext cx="2601503" cy="1082742"/>
            <a:chOff x="10616154" y="97913"/>
            <a:chExt cx="3619726" cy="1349912"/>
          </a:xfrm>
        </p:grpSpPr>
        <p:pic>
          <p:nvPicPr>
            <p:cNvPr id="22" name="Picture 2" descr="NIRF — SAVEETHA SCHOOL OF MANAGEMENT">
              <a:extLst>
                <a:ext uri="{FF2B5EF4-FFF2-40B4-BE49-F238E27FC236}">
                  <a16:creationId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Bharath University - Top University In India">
              <a:extLst>
                <a:ext uri="{FF2B5EF4-FFF2-40B4-BE49-F238E27FC236}">
                  <a16:creationId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6" descr="CREDISAPP for Ratings - Eloit">
              <a:extLst>
                <a:ext uri="{FF2B5EF4-FFF2-40B4-BE49-F238E27FC236}">
                  <a16:creationId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 descr="MHRD | Innovation Cell - Home">
              <a:extLst>
                <a:ext uri="{FF2B5EF4-FFF2-40B4-BE49-F238E27FC236}">
                  <a16:creationId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0" descr="Institution's Innovation Council | MHRD">
              <a:extLst>
                <a:ext uri="{FF2B5EF4-FFF2-40B4-BE49-F238E27FC236}">
                  <a16:creationId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876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289665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6D411-367F-DE44-B86F-24693F081E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4580247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pic>
        <p:nvPicPr>
          <p:cNvPr id="16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" y="1857550"/>
            <a:ext cx="3581400" cy="9977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355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02052CF-F9E7-714A-BDAE-9BE0ECB4D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0233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0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559C6D-4317-AA46-BAB3-6CD813F0D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5464016-775B-B140-8812-D9666C711A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4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680B5D-7167-924C-AF0A-D048ACEDB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8854B0-9314-934B-A796-5B8219D03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224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1BD9FBF-4057-CE4A-95FF-A7E4437BE4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F61B18F-41E7-EB43-A1A5-986763A09C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3932FE3-F1D5-2245-8974-1F3F9EDF2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4134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\Downloads\ilovepdf_pages-to-jpg (4)\RU_PPT Template-Grey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1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1591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4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 r="73063"/>
          <a:stretch>
            <a:fillRect/>
          </a:stretch>
        </p:blipFill>
        <p:spPr bwMode="auto">
          <a:xfrm>
            <a:off x="-54605" y="-381001"/>
            <a:ext cx="955557" cy="17111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1359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77724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DAC6C2B-8407-D64F-820D-E7CF746EE1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Nobel-Book" panose="0200050304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5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32740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34062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3" name="Media Placeholder 3">
            <a:extLst>
              <a:ext uri="{FF2B5EF4-FFF2-40B4-BE49-F238E27FC236}">
                <a16:creationId xmlns:a16="http://schemas.microsoft.com/office/drawing/2014/main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47756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4062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347756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6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33335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Black 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37723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White 5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32570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8304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8304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54700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54700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31461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31461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185102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185102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 Flow slide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05C5C-DB09-9B48-BE37-71390178EE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8FBA3758-16A0-D14A-BD36-337B1D31271F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4720C1A-BDFE-E146-B6ED-4700DEA3F3E3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3B464B9-0F71-424C-BC88-02B2AA03265F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76484-E90C-F04E-B131-5D61FED1F3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4D7AD1-383D-8841-8460-9BA6874F35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95E0D3F-8EC7-5649-B14D-1D587E65EF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7869EA-8258-0C41-A3E5-4FCD4D1F17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6121E29-064A-1641-86F9-CFB9DAF65A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0018615F-C088-3949-9CA2-1FDCB1416F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048283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Workflow slide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5A79C9B3-40EA-6841-962A-BB4931099614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5D17357-6BFE-1941-B56A-C8F51F73177D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80B83C1-8261-F644-8639-88185FC10CFE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F6605B9-0F65-4D4B-9FFA-E922993530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9737036-FF00-C544-808C-D5A2177D41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1CC5985-5A7F-6441-BC10-7E669F1E87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AB7B642-A681-B34E-977A-6F85EA6BC1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2827E12-373D-8B4F-AD69-9F7C005ED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FCBB0C0-51D7-0448-A90C-8B8B74462D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E1F1297-EA50-094F-9E80-E44D36C54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860595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14339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 cstate="print"/>
          <a:srcRect l="6250" t="83342" b="3324"/>
          <a:stretch>
            <a:fillRect/>
          </a:stretch>
        </p:blipFill>
        <p:spPr bwMode="auto">
          <a:xfrm>
            <a:off x="2173941" y="5983224"/>
            <a:ext cx="9982200" cy="798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3017837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6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 t="69444" b="16667"/>
          <a:stretch>
            <a:fillRect/>
          </a:stretch>
        </p:blipFill>
        <p:spPr bwMode="auto">
          <a:xfrm>
            <a:off x="228600" y="1752600"/>
            <a:ext cx="5486400" cy="114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\Downloads\FAI_7881_HDR_edit.jpg"/>
          <p:cNvPicPr>
            <a:picLocks noChangeAspect="1" noChangeArrowheads="1"/>
          </p:cNvPicPr>
          <p:nvPr userDrawn="1"/>
        </p:nvPicPr>
        <p:blipFill>
          <a:blip r:embed="rId2" cstate="print"/>
          <a:srcRect r="872" b="11451"/>
          <a:stretch>
            <a:fillRect/>
          </a:stretch>
        </p:blipFill>
        <p:spPr bwMode="auto">
          <a:xfrm>
            <a:off x="-16567" y="-16565"/>
            <a:ext cx="12246810" cy="68961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 userDrawn="1"/>
        </p:nvSpPr>
        <p:spPr>
          <a:xfrm>
            <a:off x="-26276" y="-26276"/>
            <a:ext cx="12218276" cy="6884276"/>
          </a:xfrm>
          <a:prstGeom prst="rect">
            <a:avLst/>
          </a:prstGeom>
          <a:solidFill>
            <a:schemeClr val="dk1">
              <a:alpha val="59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8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890001" y="0"/>
            <a:ext cx="3064565" cy="1478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ustom Pictur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9D1C3BC-7BFF-1640-819B-5BED6BEC9B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pic>
        <p:nvPicPr>
          <p:cNvPr id="11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/>
          <a:srcRect l="6250" t="83342" b="3324"/>
          <a:stretch>
            <a:fillRect/>
          </a:stretch>
        </p:blipFill>
        <p:spPr bwMode="auto">
          <a:xfrm>
            <a:off x="726141" y="5867400"/>
            <a:ext cx="114300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0069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0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6" r:id="rId2"/>
    <p:sldLayoutId id="2147484009" r:id="rId3"/>
    <p:sldLayoutId id="2147483883" r:id="rId4"/>
    <p:sldLayoutId id="214748397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3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41" r:id="rId2"/>
    <p:sldLayoutId id="2147483943" r:id="rId3"/>
    <p:sldLayoutId id="214748394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68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99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3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98" r:id="rId3"/>
    <p:sldLayoutId id="214748399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7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4002" r:id="rId3"/>
    <p:sldLayoutId id="214748400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61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0" r:id="rId2"/>
    <p:sldLayoutId id="2147483891" r:id="rId3"/>
    <p:sldLayoutId id="2147484000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02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4001" r:id="rId2"/>
    <p:sldLayoutId id="2147483916" r:id="rId3"/>
    <p:sldLayoutId id="2147484004" r:id="rId4"/>
    <p:sldLayoutId id="2147483879" r:id="rId5"/>
    <p:sldLayoutId id="214748400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11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4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6" r:id="rId3"/>
    <p:sldLayoutId id="214748399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971800"/>
            <a:ext cx="10515600" cy="1099460"/>
          </a:xfrm>
        </p:spPr>
        <p:txBody>
          <a:bodyPr/>
          <a:lstStyle/>
          <a:p>
            <a:pPr algn="ctr"/>
            <a:r>
              <a:rPr lang="en-US" sz="3500" dirty="0"/>
              <a:t>Blockchain-Based Supply Chain Transparency for Agricultural Produce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73F89A42-C401-4218-826A-9827CDDB6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114800"/>
            <a:ext cx="480060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Medium"/>
                <a:cs typeface="Times New Roman" panose="02020603050405020304" pitchFamily="18" charset="0"/>
              </a:rPr>
              <a:t>Group No: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Medium"/>
                <a:cs typeface="Times New Roman" panose="02020603050405020304" pitchFamily="18" charset="0"/>
              </a:rPr>
              <a:t>016</a:t>
            </a:r>
            <a:endParaRPr kumimoji="0" lang="en-US" altLang="en-US" sz="2000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Medium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Medium"/>
                <a:cs typeface="Times New Roman" panose="02020603050405020304" pitchFamily="18" charset="0"/>
              </a:rPr>
              <a:t>Group Name: </a:t>
            </a:r>
            <a:endParaRPr kumimoji="0" lang="en-US" altLang="en-US" sz="2000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Medium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Medium"/>
                <a:cs typeface="Times New Roman" panose="02020603050405020304" pitchFamily="18" charset="0"/>
              </a:rPr>
              <a:t>Project Guide: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Medium"/>
                <a:cs typeface="Times New Roman" panose="02020603050405020304" pitchFamily="18" charset="0"/>
              </a:rPr>
              <a:t>Prof. </a:t>
            </a:r>
            <a:r>
              <a:rPr lang="en-US" altLang="en-US" sz="2000" dirty="0">
                <a:latin typeface="Roboto Medium"/>
                <a:cs typeface="Times New Roman" panose="02020603050405020304" pitchFamily="18" charset="0"/>
              </a:rPr>
              <a:t>Md Tauseef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Medium"/>
              <a:cs typeface="Times New Roman" panose="02020603050405020304" pitchFamily="18" charset="0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823A1539-2812-4A48-91BA-F5AD70472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191000"/>
            <a:ext cx="59436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Roboto Medium"/>
                <a:cs typeface="Times New Roman" panose="02020603050405020304" pitchFamily="18" charset="0"/>
              </a:rPr>
              <a:t>Group Members</a:t>
            </a:r>
          </a:p>
          <a:p>
            <a:pPr eaLnBrk="1" hangingPunct="1"/>
            <a:r>
              <a:rPr lang="en-US" altLang="en-US" sz="2000" dirty="0">
                <a:latin typeface="Roboto Medium"/>
                <a:cs typeface="Times New Roman" panose="02020603050405020304" pitchFamily="18" charset="0"/>
              </a:rPr>
              <a:t>Sure Veera Venkata Siva Kumar (R22EN219)</a:t>
            </a:r>
          </a:p>
          <a:p>
            <a:pPr eaLnBrk="1" hangingPunct="1"/>
            <a:r>
              <a:rPr lang="en-US" altLang="en-US" sz="2000" dirty="0">
                <a:latin typeface="Roboto Medium"/>
                <a:cs typeface="Times New Roman" panose="02020603050405020304" pitchFamily="18" charset="0"/>
              </a:rPr>
              <a:t>J A Dharma Sudeep (R20EP072)</a:t>
            </a:r>
          </a:p>
          <a:p>
            <a:pPr eaLnBrk="1" hangingPunct="1"/>
            <a:r>
              <a:rPr lang="en-US" altLang="en-US" sz="2000" dirty="0">
                <a:latin typeface="Roboto Medium"/>
                <a:cs typeface="Times New Roman" panose="02020603050405020304" pitchFamily="18" charset="0"/>
              </a:rPr>
              <a:t>Chandan B Krishna (R22EP008)</a:t>
            </a:r>
          </a:p>
          <a:p>
            <a:pPr eaLnBrk="1" hangingPunct="1"/>
            <a:r>
              <a:rPr lang="en-US" altLang="en-US" sz="2000" dirty="0">
                <a:latin typeface="Roboto Medium"/>
                <a:cs typeface="Times New Roman" panose="02020603050405020304" pitchFamily="18" charset="0"/>
              </a:rPr>
              <a:t>Chandu M (R22EP009)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C00000"/>
                </a:solidFill>
              </a:rPr>
              <a:t>Contents</a:t>
            </a:r>
            <a:endParaRPr lang="en-US" sz="3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CA4D38-CF89-466F-B8A8-3AE51AA884DE}"/>
              </a:ext>
            </a:extLst>
          </p:cNvPr>
          <p:cNvSpPr txBox="1">
            <a:spLocks/>
          </p:cNvSpPr>
          <p:nvPr/>
        </p:nvSpPr>
        <p:spPr>
          <a:xfrm>
            <a:off x="838200" y="1219200"/>
            <a:ext cx="10515600" cy="6019800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Definition/ Objective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Expected Applications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SDG  Mapping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2</a:t>
            </a:fld>
            <a:endParaRPr lang="en-NZ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C00000"/>
                </a:solidFill>
              </a:rPr>
              <a:t>Abstract</a:t>
            </a:r>
            <a:endParaRPr lang="en-US" sz="3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708463" y="1251416"/>
            <a:ext cx="10801201" cy="43204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 blockchain to ensure end-to-end traceability, origin tracking, and pricing fairness for agricultural produce.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Record each event (“harvest → process → ship → receive → sell”) on a tamper-proof distributed ledger.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Smart contracts for automated rules (e.g., payment on delivery), QR codes for consumer-facing provenance.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Reduces fraud, speeds recalls, increases trust, and supports equitable value distribution.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Prototype platform demonstrating rapid traceability, improved transparency, and fair pricing support.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3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7656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400" b="1" dirty="0">
                <a:solidFill>
                  <a:srgbClr val="C00000"/>
                </a:solidFill>
              </a:rPr>
              <a:t>Introduction</a:t>
            </a:r>
            <a:endParaRPr lang="en-IN" sz="3400" dirty="0"/>
          </a:p>
        </p:txBody>
      </p:sp>
      <p:sp>
        <p:nvSpPr>
          <p:cNvPr id="4" name="Rectangle 3"/>
          <p:cNvSpPr/>
          <p:nvPr/>
        </p:nvSpPr>
        <p:spPr>
          <a:xfrm>
            <a:off x="762000" y="1143000"/>
            <a:ext cx="10058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Pain Points: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Fragmented records, limited visibility, slow recalls, information asymmetry, and farmer exploitation.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Blockchain: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Shared ledger, immutability, consensus validation, auditable history, and multi-party access.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Farmers, cooperatives, certifiers, processors, logistics providers, distributors, retailers, consumers, regulators.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Goals: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trace-backs, authenticated origin/quality, transparent pricing, and higher consumer confidence.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4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11524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400" b="1" dirty="0">
                <a:solidFill>
                  <a:srgbClr val="C00000"/>
                </a:solidFill>
              </a:rPr>
              <a:t>Literature Survey</a:t>
            </a:r>
            <a:endParaRPr lang="en-US" sz="3400" dirty="0"/>
          </a:p>
        </p:txBody>
      </p:sp>
      <p:sp>
        <p:nvSpPr>
          <p:cNvPr id="6" name="Rectangle 5"/>
          <p:cNvSpPr/>
          <p:nvPr/>
        </p:nvSpPr>
        <p:spPr>
          <a:xfrm>
            <a:off x="762000" y="1143000"/>
            <a:ext cx="9982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Trends: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Blockchain + IoT for traceability; smart contracts for automated compliance and payment; permissioned networks for privacy/performance.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Compared: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Ethereum (public, rich tooling) vs. Hyperledger Fabric (permissioned, high throughput, fine-grained access).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Pilots: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retailers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-platforms show faster trace-backs, QR-based consumer transparency, and operational efficiencies.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Identified: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veracity at entry (“garbage-in”), onboarding smallholders, scalability, interoperability, and regulatory alignment.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5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97054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95400" y="395786"/>
            <a:ext cx="7991400" cy="838202"/>
          </a:xfrm>
        </p:spPr>
        <p:txBody>
          <a:bodyPr/>
          <a:lstStyle/>
          <a:p>
            <a:r>
              <a:rPr lang="en-IN" sz="3400" b="1" dirty="0">
                <a:solidFill>
                  <a:srgbClr val="C00000"/>
                </a:solidFill>
              </a:rPr>
              <a:t>Problem Definition/ Objective</a:t>
            </a:r>
            <a:endParaRPr lang="en-US" sz="3400" dirty="0"/>
          </a:p>
        </p:txBody>
      </p:sp>
      <p:sp>
        <p:nvSpPr>
          <p:cNvPr id="8" name="Rectangle 7"/>
          <p:cNvSpPr/>
          <p:nvPr/>
        </p:nvSpPr>
        <p:spPr>
          <a:xfrm>
            <a:off x="785948" y="1143000"/>
            <a:ext cx="9677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Problem Statement: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Lack of trusted, end-to-end transparency in </a:t>
            </a:r>
            <a:r>
              <a:rPr lang="en-US" sz="2400" dirty="0" err="1"/>
              <a:t>agri</a:t>
            </a:r>
            <a:r>
              <a:rPr lang="en-US" sz="2400" dirty="0"/>
              <a:t> supply chains leads to food safety risks, fraud, inefficiencies, and unfair farmer compensation.</a:t>
            </a:r>
          </a:p>
          <a:p>
            <a:r>
              <a:rPr lang="en-US" sz="2400" b="1" dirty="0"/>
              <a:t>Objectives: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End-to-End Traceability:</a:t>
            </a:r>
            <a:r>
              <a:rPr lang="en-US" sz="2400" dirty="0"/>
              <a:t> Immutable chain of custody for each batch/lot.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Pricing Fairness:</a:t>
            </a:r>
            <a:r>
              <a:rPr lang="en-US" sz="2400" dirty="0"/>
              <a:t> Visibility of price transitions; smart-contract payments to reduce delays and hidden markups.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Data Integrity &amp; Safety:</a:t>
            </a:r>
            <a:r>
              <a:rPr lang="en-US" sz="2400" dirty="0"/>
              <a:t> Cryptographic assurance; rapid isolation of affected batches during incidents.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Inclusion:</a:t>
            </a:r>
            <a:r>
              <a:rPr lang="en-US" sz="2400" dirty="0"/>
              <a:t> Simple mobile/web interfaces and QR codes to onboard smallholders and downstream actors.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6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340777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400" b="1" dirty="0">
                <a:solidFill>
                  <a:srgbClr val="C00000"/>
                </a:solidFill>
              </a:rPr>
              <a:t>Methodology</a:t>
            </a:r>
            <a:endParaRPr lang="en-US" sz="34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08463" y="1089720"/>
            <a:ext cx="11102537" cy="432048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Consortium, permissioned blockchain connecting all stakeholders; on-chain state for batches/lots; off-chain storage (e.g., docs, certificates) referenced by hashes.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&amp; Data Model: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Entities: Farm, Batch, Transfer,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QualityCheck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PriceEvent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createBatch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recordTransfer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recordQuality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setPrice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releasePayment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flagRecall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 &amp; IoT Integration: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QR per batch; scans append events to ledger.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 IoT (temperature/humidity) feeds via middleware for automatic logging and alerting.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7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556635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CA92-933B-2A3E-CF83-4C98A443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BA786D0-CBB6-DD61-2D96-467226AED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400" b="1" dirty="0">
                <a:solidFill>
                  <a:srgbClr val="C00000"/>
                </a:solidFill>
              </a:rPr>
              <a:t>Methodology</a:t>
            </a:r>
            <a:endParaRPr lang="en-US" sz="3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684FB2-4A97-6882-A9AE-86CD526D8F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8463" y="1089720"/>
            <a:ext cx="11102537" cy="432048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Phased Execution: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Simulation → 2) Prototype (contracts, APIs, UI) → 3) Integration &amp; Testing → 4) Pilot &amp; Evaluation.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Adoption (training, UX in local language), data veracity (sensor cross-checks/audits), performance (batching, permissioned consensus), security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authZ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encryption).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0DB30E-F017-4992-223F-A11884CABD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8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10550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400" b="1" dirty="0">
                <a:solidFill>
                  <a:srgbClr val="C00000"/>
                </a:solidFill>
              </a:rPr>
              <a:t>EXPECTED Applications</a:t>
            </a:r>
            <a:endParaRPr lang="en-US" sz="3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95400" y="1186101"/>
            <a:ext cx="10801201" cy="43204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Food Safety &amp; Recalls: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Rapid, surgical recalls; reduced waste and liability.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Transparency: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QR-based provenance (origin, dates, certifications) to build trust and brand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 Farmer Payments: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 or rules-based settlements on delivery; clearer value distribution.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Anti-Fraud &amp; Compliance: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Harder to mislabel/adulterate; auditable logs for regulators and certifiers.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Optimization: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Ledger analytics for choke-point detection, SLA monitoring, and quality improvements.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9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48601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5B343A-512C-49FE-9532-0BD693216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C00000"/>
                </a:solidFill>
              </a:rPr>
              <a:t>SDG MAPPING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9A454F-E71E-3E2E-FC21-72EA4FA2633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371600"/>
            <a:ext cx="10801201" cy="43204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9 (Industry, Innovation &amp; Infrastructure):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Digitizes agricultural infrastructure with resilient, interoperable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12 (Responsible Consumption &amp; Production):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Cuts waste via precise recalls; enables informed consumer choices.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8 (Decent Work &amp; Economic Growth):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Faster, fairer payments and market access for smallholders; inclusive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Co-Benefits: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Supports SDG 1/2 through improved livelihoods and safer food ecosystems.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63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400" b="1" dirty="0">
                <a:solidFill>
                  <a:srgbClr val="C00000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4589" y="1173038"/>
            <a:ext cx="11228811" cy="43204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Chandan, A., John, M., &amp; Potdar, V. (2023).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Achieving UN SDGs in Food Supply Chain Using Blockchain Technology.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Sustainability, 15(3), 2109.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 Niekerk, M. (2024).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source to stomach: How blockchain tracks food across the supply chain and saves lives.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 Economic Forum.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Crawford, E. (2018).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7 days to 2 seconds: Blockchain can help speed trace-back, improve food safety &amp; reduce waste.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FoodNavigator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-USA.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Thomasson, E. (2019).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Carrefour says blockchain tracking boosting sales of some products.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Reuters.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Farmonaut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(2023).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in Agriculture: Unlock Hidden Supply Chain Secrets.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Farmonaut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Blogs.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AGDAILY. (2024).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 of Blockchain in Enhancing the Lives of Small Farmers.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11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571558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85E85-FCC2-6433-F01E-9BA12C22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2214DC-A47B-2129-A08B-EE9D26B7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400" b="1" dirty="0">
                <a:solidFill>
                  <a:srgbClr val="C00000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387184-EB72-AF8B-C379-94D75BC072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4589" y="1173038"/>
            <a:ext cx="11228811" cy="43204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Tian, F. (2017).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supply chain traceability system for food safety based on HACCP, blockchain &amp; IoT.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Galvez, J. F.,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Mejuto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 C., &amp; Simal-Gandara, J. (2018).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challenges on the use of blockchain for food traceability.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Demestichas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 et al. (2020).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in agriculture: Applications and challenges.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Hyperledger Foundation. (Tech docs).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Hyperledger Fabric: Architecture and concepts.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Ethereum Foundation. (Tech docs).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and Solidity developer docs.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 Food Trust. (Case materials).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Blockchain-enabled food traceability implementations.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2B5ABA-6F2B-35F9-EBE8-9D66EE4A2BF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12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04042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13173" y="3078482"/>
            <a:ext cx="10515600" cy="1325563"/>
          </a:xfrm>
        </p:spPr>
        <p:txBody>
          <a:bodyPr/>
          <a:lstStyle/>
          <a:p>
            <a:r>
              <a:rPr lang="en-US" sz="10100" dirty="0"/>
              <a:t>Thank</a:t>
            </a:r>
            <a:r>
              <a:rPr lang="en-US" sz="10000" dirty="0"/>
              <a:t> You…..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A Powerpoint Template - NEW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roko_LI master PPT template vs6_17 May" id="{612B838A-5E32-418B-B7C4-7EB4F3A298E7}" vid="{DD7C752D-2EC0-456A-A201-074024275761}"/>
    </a:ext>
  </a:extLst>
</a:theme>
</file>

<file path=ppt/theme/theme2.xml><?xml version="1.0" encoding="utf-8"?>
<a:theme xmlns:a="http://schemas.openxmlformats.org/drawingml/2006/main" name="Agenda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vider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edia / Video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py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opy and Imag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able &amp; Graphs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Flow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hank You 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0ADC236C7AC742BB0BFCA0FFECEA3A" ma:contentTypeVersion="0" ma:contentTypeDescription="Create a new document." ma:contentTypeScope="" ma:versionID="6b302963b2d4f2b039b5a5db900d0a6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6C91B7-41B2-43A3-A2C0-738920E68A3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4916671-0E7D-4594-8037-60C70BF44351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9AE24FE-195A-4977-9740-21B0E7B6E4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REVA REVISED TEMPLATE (1)</Template>
  <TotalTime>2139</TotalTime>
  <Words>1021</Words>
  <Application>Microsoft Macintosh PowerPoint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Arial</vt:lpstr>
      <vt:lpstr>Nobel-Book</vt:lpstr>
      <vt:lpstr>Roboto Medium</vt:lpstr>
      <vt:lpstr>Times New Roman</vt:lpstr>
      <vt:lpstr>REVA Powerpoint Template - NEW</vt:lpstr>
      <vt:lpstr>Agenda</vt:lpstr>
      <vt:lpstr>Divider</vt:lpstr>
      <vt:lpstr>Media / Video Slide</vt:lpstr>
      <vt:lpstr>Copy Slides</vt:lpstr>
      <vt:lpstr>Copy and Image</vt:lpstr>
      <vt:lpstr>Table &amp; Graphs Slide</vt:lpstr>
      <vt:lpstr>Flow Slides</vt:lpstr>
      <vt:lpstr>Thank You </vt:lpstr>
      <vt:lpstr>Blockchain-Based Supply Chain Transparency for Agricultural Produce</vt:lpstr>
      <vt:lpstr>Contents</vt:lpstr>
      <vt:lpstr>Abstract</vt:lpstr>
      <vt:lpstr>Introduction</vt:lpstr>
      <vt:lpstr>Literature Survey</vt:lpstr>
      <vt:lpstr>Problem Definition/ Objective</vt:lpstr>
      <vt:lpstr>Methodology</vt:lpstr>
      <vt:lpstr>Methodology</vt:lpstr>
      <vt:lpstr>EXPECTED Applications</vt:lpstr>
      <vt:lpstr>SDG MAPPING</vt:lpstr>
      <vt:lpstr>References</vt:lpstr>
      <vt:lpstr>References</vt:lpstr>
      <vt:lpstr>Thank You…..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Databases and Conceptual Modelling</dc:title>
  <dc:creator>USER</dc:creator>
  <cp:lastModifiedBy>Joyraj Roy</cp:lastModifiedBy>
  <cp:revision>142</cp:revision>
  <cp:lastPrinted>2018-09-28T07:11:06Z</cp:lastPrinted>
  <dcterms:created xsi:type="dcterms:W3CDTF">2020-08-18T04:48:01Z</dcterms:created>
  <dcterms:modified xsi:type="dcterms:W3CDTF">2025-10-25T03:46:31Z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0x010100B60ADC236C7AC742BB0BFCA0FFECEA3A</vt:lpwstr>
  </property>
</Properties>
</file>